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7" r:id="rId2"/>
    <p:sldId id="256" r:id="rId3"/>
    <p:sldId id="271" r:id="rId4"/>
    <p:sldId id="259" r:id="rId5"/>
    <p:sldId id="269" r:id="rId6"/>
    <p:sldId id="257" r:id="rId7"/>
    <p:sldId id="261" r:id="rId8"/>
    <p:sldId id="263" r:id="rId9"/>
    <p:sldId id="264" r:id="rId10"/>
    <p:sldId id="266" r:id="rId11"/>
    <p:sldId id="268" r:id="rId12"/>
    <p:sldId id="262" r:id="rId13"/>
    <p:sldId id="260" r:id="rId14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16EA"/>
    <a:srgbClr val="624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4365C-1732-4B6D-8F35-11572414DA76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63E30-F131-49CF-A4A6-5CF557EE50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522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063E30-F131-49CF-A4A6-5CF557EE5075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7862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453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230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853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82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167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19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160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8705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598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99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5705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99F09-F441-49E3-A61D-E62C6E94CA9F}" type="datetimeFigureOut">
              <a:rPr lang="de-DE" smtClean="0"/>
              <a:t>09.03.2020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64860-15FC-4D36-9EB9-B497DE4B13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9420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autopf.de/" TargetMode="External"/><Relationship Id="rId2" Type="http://schemas.openxmlformats.org/officeDocument/2006/relationships/hyperlink" Target="https://bluemountain.princeton.edu/bluemtn/cgi-bin/bluemtn?a=d&amp;d=bmtnaal191809-01.2.7&amp;e=-------en-20--1--txt-IN-----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ink.springer.com/chapter/10.1007%2F978-3-476-03908-8_4" TargetMode="External"/><Relationship Id="rId4" Type="http://schemas.openxmlformats.org/officeDocument/2006/relationships/hyperlink" Target="https://books.google.de/books?id=NE-3DQAAQBAJ&amp;pg=PA93&amp;lpg=PA93&amp;dq=Der+Feldzug+nach+Sizilien+zusammenfassung+%22Georg+Heym%22&amp;source=bl&amp;ots=0nC3NWwSn4&amp;sig=ACfU3U21ZVYHvoAhGXY4QfSsl2ipxei31w&amp;hl=de&amp;sa=X&amp;ved=2ahUKEwj28eLD7I3oAhWUmFwKHQEdDpsQ6AEwBXoECAsQAQ#v=onepage&amp;q=Der%20Feldzug%20nach%20Sizilien%20zusammenfassung%20%22Georg%20Heym%22&amp;f=false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de-DE" dirty="0" smtClean="0">
                <a:latin typeface="Berlin Sans FB" pitchFamily="34" charset="0"/>
              </a:rPr>
              <a:t>Sehr </a:t>
            </a:r>
            <a:r>
              <a:rPr lang="de-DE" dirty="0">
                <a:latin typeface="Berlin Sans FB" pitchFamily="34" charset="0"/>
              </a:rPr>
              <a:t>weit ist diese Nacht. Und Wolkenschein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Zerreißet </a:t>
            </a:r>
            <a:r>
              <a:rPr lang="de-DE" dirty="0">
                <a:latin typeface="Berlin Sans FB" pitchFamily="34" charset="0"/>
              </a:rPr>
              <a:t>vor des Mondes Untergang.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Und </a:t>
            </a:r>
            <a:r>
              <a:rPr lang="de-DE" dirty="0">
                <a:latin typeface="Berlin Sans FB" pitchFamily="34" charset="0"/>
              </a:rPr>
              <a:t>tausend Fenster stehn die Nacht entlang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Und </a:t>
            </a:r>
            <a:r>
              <a:rPr lang="de-DE" dirty="0">
                <a:latin typeface="Berlin Sans FB" pitchFamily="34" charset="0"/>
              </a:rPr>
              <a:t>blinzeln mit den Lidern, rot und klein. </a:t>
            </a:r>
            <a:br>
              <a:rPr lang="de-DE" dirty="0">
                <a:latin typeface="Berlin Sans FB" pitchFamily="34" charset="0"/>
              </a:rPr>
            </a:br>
            <a:r>
              <a:rPr lang="de-DE" dirty="0">
                <a:latin typeface="Berlin Sans FB" pitchFamily="34" charset="0"/>
              </a:rPr>
              <a:t/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Wie </a:t>
            </a:r>
            <a:r>
              <a:rPr lang="de-DE" dirty="0">
                <a:latin typeface="Berlin Sans FB" pitchFamily="34" charset="0"/>
              </a:rPr>
              <a:t>Aderwerk gehn Straßen durch die Stadt,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Unzählig </a:t>
            </a:r>
            <a:r>
              <a:rPr lang="de-DE" dirty="0">
                <a:latin typeface="Berlin Sans FB" pitchFamily="34" charset="0"/>
              </a:rPr>
              <a:t>Menschen schwemmen aus und ein.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Und </a:t>
            </a:r>
            <a:r>
              <a:rPr lang="de-DE" dirty="0">
                <a:latin typeface="Berlin Sans FB" pitchFamily="34" charset="0"/>
              </a:rPr>
              <a:t>ewig stumpfer Ton von stumpfem Sein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Eintönig </a:t>
            </a:r>
            <a:r>
              <a:rPr lang="de-DE" dirty="0">
                <a:latin typeface="Berlin Sans FB" pitchFamily="34" charset="0"/>
              </a:rPr>
              <a:t>kommt heraus in Stille matt. </a:t>
            </a:r>
            <a:br>
              <a:rPr lang="de-DE" dirty="0">
                <a:latin typeface="Berlin Sans FB" pitchFamily="34" charset="0"/>
              </a:rPr>
            </a:br>
            <a:r>
              <a:rPr lang="de-DE" dirty="0">
                <a:latin typeface="Berlin Sans FB" pitchFamily="34" charset="0"/>
              </a:rPr>
              <a:t/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Gebären</a:t>
            </a:r>
            <a:r>
              <a:rPr lang="de-DE" dirty="0">
                <a:latin typeface="Berlin Sans FB" pitchFamily="34" charset="0"/>
              </a:rPr>
              <a:t>, Tod, gewirktes Einerlei,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Lallen der </a:t>
            </a:r>
            <a:r>
              <a:rPr lang="de-DE" dirty="0">
                <a:latin typeface="Berlin Sans FB" pitchFamily="34" charset="0"/>
              </a:rPr>
              <a:t>Wehen, langer Sterbeschrei,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Im </a:t>
            </a:r>
            <a:r>
              <a:rPr lang="de-DE" dirty="0">
                <a:latin typeface="Berlin Sans FB" pitchFamily="34" charset="0"/>
              </a:rPr>
              <a:t>blinden Wechsel geht es dumpf vorbei. </a:t>
            </a:r>
            <a:br>
              <a:rPr lang="de-DE" dirty="0">
                <a:latin typeface="Berlin Sans FB" pitchFamily="34" charset="0"/>
              </a:rPr>
            </a:br>
            <a:r>
              <a:rPr lang="de-DE" dirty="0">
                <a:latin typeface="Berlin Sans FB" pitchFamily="34" charset="0"/>
              </a:rPr>
              <a:t/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Und </a:t>
            </a:r>
            <a:r>
              <a:rPr lang="de-DE" dirty="0">
                <a:latin typeface="Berlin Sans FB" pitchFamily="34" charset="0"/>
              </a:rPr>
              <a:t>Schein und Feuer, Fackeln rot und Brand,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Die </a:t>
            </a:r>
            <a:r>
              <a:rPr lang="de-DE" dirty="0">
                <a:latin typeface="Berlin Sans FB" pitchFamily="34" charset="0"/>
              </a:rPr>
              <a:t>drohn im Weiten mit gezückter Hand </a:t>
            </a:r>
            <a:br>
              <a:rPr lang="de-DE" dirty="0">
                <a:latin typeface="Berlin Sans FB" pitchFamily="34" charset="0"/>
              </a:rPr>
            </a:br>
            <a:r>
              <a:rPr lang="de-DE" dirty="0" smtClean="0">
                <a:latin typeface="Berlin Sans FB" pitchFamily="34" charset="0"/>
              </a:rPr>
              <a:t>Und </a:t>
            </a:r>
            <a:r>
              <a:rPr lang="de-DE" dirty="0">
                <a:latin typeface="Berlin Sans FB" pitchFamily="34" charset="0"/>
              </a:rPr>
              <a:t>scheinen hoch von dunkler Wolkenwand.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818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3568" y="2492896"/>
            <a:ext cx="7772400" cy="1470025"/>
          </a:xfrm>
        </p:spPr>
        <p:txBody>
          <a:bodyPr>
            <a:normAutofit/>
          </a:bodyPr>
          <a:lstStyle/>
          <a:p>
            <a:r>
              <a:rPr lang="de-DE" sz="7200" i="1" dirty="0"/>
              <a:t>Expressionismus</a:t>
            </a:r>
            <a:endParaRPr lang="de-DE" sz="7200" i="1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0587" y="6511652"/>
            <a:ext cx="9144000" cy="692696"/>
          </a:xfrm>
        </p:spPr>
        <p:txBody>
          <a:bodyPr>
            <a:normAutofit/>
          </a:bodyPr>
          <a:lstStyle/>
          <a:p>
            <a:r>
              <a:rPr lang="de-DE" sz="1050" dirty="0" smtClean="0"/>
              <a:t>Florian Wick, Paul Hoffmann, Philipp Grüninger</a:t>
            </a:r>
            <a:endParaRPr lang="de-DE" sz="1050" dirty="0" smtClean="0"/>
          </a:p>
          <a:p>
            <a:endParaRPr lang="de-DE" sz="800" dirty="0"/>
          </a:p>
        </p:txBody>
      </p:sp>
      <p:sp>
        <p:nvSpPr>
          <p:cNvPr id="4" name="Textfeld 3"/>
          <p:cNvSpPr txBox="1"/>
          <p:nvPr/>
        </p:nvSpPr>
        <p:spPr>
          <a:xfrm>
            <a:off x="3851920" y="364502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1905 - 1925</a:t>
            </a:r>
            <a:endParaRPr lang="de-DE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50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700808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 smtClean="0"/>
              <a:t>Lateinisch; „ex“ &amp; „</a:t>
            </a:r>
            <a:r>
              <a:rPr lang="de-DE" dirty="0" err="1" smtClean="0"/>
              <a:t>premere</a:t>
            </a:r>
            <a:r>
              <a:rPr lang="de-DE" dirty="0" smtClean="0"/>
              <a:t>“ -&gt; ausdrücken</a:t>
            </a:r>
          </a:p>
          <a:p>
            <a:pPr marL="0" indent="0" algn="ctr">
              <a:buNone/>
            </a:pPr>
            <a:r>
              <a:rPr lang="de-DE" dirty="0" smtClean="0"/>
              <a:t>also Expressionismus = Ausdruckskunst</a:t>
            </a: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buNone/>
            </a:pPr>
            <a:r>
              <a:rPr lang="de-DE" dirty="0" smtClean="0"/>
              <a:t>Innerliche Wahrheiten und Erlebnisse, nicht direkt das Gesehene</a:t>
            </a:r>
          </a:p>
        </p:txBody>
      </p:sp>
    </p:spTree>
    <p:extLst>
      <p:ext uri="{BB962C8B-B14F-4D97-AF65-F5344CB8AC3E}">
        <p14:creationId xmlns:p14="http://schemas.microsoft.com/office/powerpoint/2010/main" val="69185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Themen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2699792" y="1700808"/>
            <a:ext cx="4104456" cy="4525963"/>
          </a:xfrm>
        </p:spPr>
        <p:txBody>
          <a:bodyPr numCol="1"/>
          <a:lstStyle/>
          <a:p>
            <a:pPr>
              <a:buFont typeface="Symbol" pitchFamily="18" charset="2"/>
              <a:buChar char="-"/>
            </a:pPr>
            <a:r>
              <a:rPr lang="de-DE" sz="3000" dirty="0" smtClean="0"/>
              <a:t>Die Stadt</a:t>
            </a:r>
          </a:p>
          <a:p>
            <a:pPr>
              <a:buFont typeface="Symbol" pitchFamily="18" charset="2"/>
              <a:buChar char="-"/>
            </a:pPr>
            <a:r>
              <a:rPr lang="de-DE" sz="3000" dirty="0" smtClean="0"/>
              <a:t>Industrialisierung</a:t>
            </a:r>
          </a:p>
          <a:p>
            <a:pPr>
              <a:buFont typeface="Symbol" pitchFamily="18" charset="2"/>
              <a:buChar char="-"/>
            </a:pPr>
            <a:r>
              <a:rPr lang="de-DE" sz="3000" dirty="0" smtClean="0"/>
              <a:t>Der </a:t>
            </a:r>
            <a:r>
              <a:rPr lang="de-DE" sz="3000" dirty="0" smtClean="0"/>
              <a:t>neue Mensch</a:t>
            </a:r>
          </a:p>
          <a:p>
            <a:pPr>
              <a:buFont typeface="Symbol" pitchFamily="18" charset="2"/>
              <a:buChar char="-"/>
            </a:pPr>
            <a:r>
              <a:rPr lang="de-DE" sz="3000" dirty="0" smtClean="0"/>
              <a:t>Ich-Zerfall</a:t>
            </a:r>
            <a:endParaRPr lang="de-DE" sz="3000" dirty="0" smtClean="0"/>
          </a:p>
          <a:p>
            <a:pPr>
              <a:buFont typeface="Symbol" pitchFamily="18" charset="2"/>
              <a:buChar char="-"/>
            </a:pPr>
            <a:r>
              <a:rPr lang="de-DE" sz="3000" dirty="0" smtClean="0"/>
              <a:t>Krieg</a:t>
            </a:r>
          </a:p>
          <a:p>
            <a:pPr>
              <a:buFont typeface="Symbol" pitchFamily="18" charset="2"/>
              <a:buChar char="-"/>
            </a:pPr>
            <a:r>
              <a:rPr lang="de-DE" sz="3000" dirty="0" smtClean="0"/>
              <a:t>Der Weltuntergang</a:t>
            </a:r>
          </a:p>
          <a:p>
            <a:pPr algn="ctr"/>
            <a:endParaRPr lang="de-DE" dirty="0" smtClean="0"/>
          </a:p>
          <a:p>
            <a:pPr algn="r"/>
            <a:endParaRPr lang="de-DE" dirty="0" smtClean="0"/>
          </a:p>
          <a:p>
            <a:pPr algn="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326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Georg Heym </a:t>
            </a:r>
            <a:br>
              <a:rPr lang="de-DE" dirty="0" smtClean="0"/>
            </a:br>
            <a:r>
              <a:rPr lang="de-DE" sz="1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(1887 – 1912)</a:t>
            </a:r>
            <a:endParaRPr lang="de-DE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2800" dirty="0" smtClean="0"/>
              <a:t>Konservative Eltern</a:t>
            </a:r>
          </a:p>
          <a:p>
            <a:r>
              <a:rPr lang="de-DE" sz="2800" dirty="0" smtClean="0"/>
              <a:t>Problematischer beruflicher				 Werdegang</a:t>
            </a:r>
          </a:p>
          <a:p>
            <a:r>
              <a:rPr lang="de-DE" sz="2800" dirty="0" smtClean="0"/>
              <a:t>Hinterließ rund 500 Werke</a:t>
            </a:r>
          </a:p>
          <a:p>
            <a:pPr marL="0" indent="0">
              <a:buNone/>
            </a:pPr>
            <a:endParaRPr lang="de-DE" sz="2800" dirty="0" smtClean="0"/>
          </a:p>
          <a:p>
            <a:pPr marL="400050" lvl="1" indent="0">
              <a:buNone/>
            </a:pPr>
            <a:r>
              <a:rPr lang="de-DE" dirty="0" smtClean="0"/>
              <a:t>„Der Feldzug nach Sizilien“  </a:t>
            </a:r>
            <a:r>
              <a:rPr lang="de-DE" dirty="0"/>
              <a:t>(1907, </a:t>
            </a:r>
            <a:r>
              <a:rPr lang="de-DE" dirty="0" smtClean="0"/>
              <a:t>Drama)	</a:t>
            </a:r>
            <a:r>
              <a:rPr lang="de-DE" sz="1200" dirty="0" smtClean="0"/>
              <a:t>            </a:t>
            </a:r>
            <a:r>
              <a:rPr lang="de-DE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Mensch</a:t>
            </a:r>
            <a:endParaRPr lang="de-DE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400050" lvl="1" indent="0">
              <a:buNone/>
            </a:pPr>
            <a:r>
              <a:rPr lang="de-DE" dirty="0" smtClean="0"/>
              <a:t>„Der Krieg“  (1911, Gedicht)	</a:t>
            </a:r>
            <a:r>
              <a:rPr lang="de-DE" sz="1200" dirty="0" smtClean="0"/>
              <a:t>			            </a:t>
            </a:r>
            <a:r>
              <a:rPr lang="de-DE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Krieg, Untergang</a:t>
            </a:r>
            <a:endParaRPr lang="de-DE" dirty="0" smtClean="0"/>
          </a:p>
          <a:p>
            <a:pPr marL="400050" lvl="1" indent="0">
              <a:buNone/>
            </a:pPr>
            <a:r>
              <a:rPr lang="de-DE" dirty="0" smtClean="0"/>
              <a:t>„Der Dieb“  </a:t>
            </a:r>
            <a:r>
              <a:rPr lang="de-DE" dirty="0"/>
              <a:t>(</a:t>
            </a:r>
            <a:r>
              <a:rPr lang="de-DE" dirty="0" smtClean="0"/>
              <a:t>1913, Prosa)</a:t>
            </a:r>
            <a:r>
              <a:rPr lang="de-DE" dirty="0"/>
              <a:t>	</a:t>
            </a:r>
            <a:r>
              <a:rPr lang="de-DE" sz="1200" dirty="0"/>
              <a:t>			      </a:t>
            </a:r>
            <a:r>
              <a:rPr lang="de-DE" sz="1200" dirty="0" smtClean="0"/>
              <a:t>     </a:t>
            </a:r>
            <a:r>
              <a:rPr lang="de-DE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Revolution</a:t>
            </a:r>
            <a:endParaRPr lang="de-DE" dirty="0"/>
          </a:p>
          <a:p>
            <a:pPr marL="0" indent="0">
              <a:buNone/>
            </a:pPr>
            <a:endParaRPr lang="de-DE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de-DE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endParaRPr lang="de-DE" sz="16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de-DE" sz="280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692696"/>
            <a:ext cx="2051298" cy="282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</a:t>
            </a:r>
            <a:r>
              <a:rPr lang="de-DE" dirty="0" smtClean="0"/>
              <a:t>eitere Autoren: 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 smtClean="0"/>
              <a:t>Herrmann Hesse („Der Steppenwolf“ - 1927</a:t>
            </a:r>
            <a:r>
              <a:rPr lang="de-DE" dirty="0" smtClean="0"/>
              <a:t>) </a:t>
            </a:r>
            <a:r>
              <a:rPr lang="de-DE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Mensch, Gesellschaft</a:t>
            </a:r>
            <a:endParaRPr lang="de-DE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de-DE" dirty="0" smtClean="0"/>
              <a:t>Georg </a:t>
            </a:r>
            <a:r>
              <a:rPr lang="de-DE" dirty="0" smtClean="0"/>
              <a:t>Trakl („Grodek“ </a:t>
            </a:r>
            <a:r>
              <a:rPr lang="de-DE" dirty="0" smtClean="0"/>
              <a:t>- </a:t>
            </a:r>
            <a:r>
              <a:rPr lang="de-DE" dirty="0" smtClean="0"/>
              <a:t>1915)                                 </a:t>
            </a:r>
            <a:r>
              <a:rPr lang="de-DE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Krieg</a:t>
            </a:r>
            <a:endParaRPr lang="de-DE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de-DE" dirty="0" smtClean="0"/>
              <a:t>René Schickele („Großstadtvolk“ - 1919</a:t>
            </a:r>
            <a:r>
              <a:rPr lang="de-DE" dirty="0" smtClean="0"/>
              <a:t>)        </a:t>
            </a:r>
            <a:r>
              <a:rPr lang="de-DE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Stadt</a:t>
            </a:r>
            <a:r>
              <a:rPr lang="de-DE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de-DE" sz="1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Gesellschaft, </a:t>
            </a:r>
            <a:r>
              <a:rPr lang="de-DE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Industrialisierung, </a:t>
            </a:r>
            <a:endParaRPr lang="de-DE" sz="1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de-DE" dirty="0" smtClean="0"/>
              <a:t>Paul Zech („Fabrikstraße Tags“ - 1911)        </a:t>
            </a:r>
            <a:r>
              <a:rPr lang="de-DE" sz="19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Industrialisierung</a:t>
            </a:r>
          </a:p>
          <a:p>
            <a:endParaRPr lang="de-DE" dirty="0"/>
          </a:p>
          <a:p>
            <a:r>
              <a:rPr lang="de-DE" sz="2300" dirty="0" smtClean="0"/>
              <a:t>Franz </a:t>
            </a:r>
            <a:r>
              <a:rPr lang="de-DE" sz="2300" dirty="0" smtClean="0"/>
              <a:t>Kafka („Gespräch mit dem Beter“ - 1909</a:t>
            </a:r>
            <a:r>
              <a:rPr lang="de-DE" sz="2300" dirty="0" smtClean="0"/>
              <a:t>)</a:t>
            </a:r>
          </a:p>
          <a:p>
            <a:r>
              <a:rPr lang="de-DE" sz="2300" dirty="0"/>
              <a:t>Friedrich Dürrenmatt („Ein Engel kommt nach Babylon“ - 1953</a:t>
            </a:r>
            <a:r>
              <a:rPr lang="de-DE" sz="2300" dirty="0" smtClean="0"/>
              <a:t>)  </a:t>
            </a:r>
            <a:endParaRPr lang="de-DE" sz="2300" dirty="0"/>
          </a:p>
          <a:p>
            <a:endParaRPr lang="de-DE" sz="2800" dirty="0"/>
          </a:p>
        </p:txBody>
      </p:sp>
    </p:spTree>
    <p:extLst>
      <p:ext uri="{BB962C8B-B14F-4D97-AF65-F5344CB8AC3E}">
        <p14:creationId xmlns:p14="http://schemas.microsoft.com/office/powerpoint/2010/main" val="320389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</a:t>
            </a:r>
            <a:r>
              <a:rPr lang="de-DE" dirty="0" smtClean="0"/>
              <a:t>äufige Stilmittel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3000" dirty="0" smtClean="0"/>
              <a:t>Sprachverknappungen</a:t>
            </a:r>
            <a:endParaRPr lang="de-DE" sz="3000" dirty="0"/>
          </a:p>
          <a:p>
            <a:r>
              <a:rPr lang="de-DE" sz="3000" dirty="0"/>
              <a:t>Variationen in Syntax und </a:t>
            </a:r>
            <a:r>
              <a:rPr lang="de-DE" sz="3000" dirty="0" smtClean="0"/>
              <a:t>Grammatik</a:t>
            </a:r>
          </a:p>
          <a:p>
            <a:r>
              <a:rPr lang="de-DE" sz="3000" dirty="0" smtClean="0"/>
              <a:t>Personifikationen </a:t>
            </a:r>
            <a:r>
              <a:rPr lang="de-DE" sz="3000" dirty="0"/>
              <a:t>von </a:t>
            </a:r>
            <a:r>
              <a:rPr lang="de-DE" sz="3000" dirty="0" smtClean="0"/>
              <a:t>Gewalten</a:t>
            </a:r>
            <a:endParaRPr lang="de-DE" sz="3000" dirty="0" smtClean="0"/>
          </a:p>
          <a:p>
            <a:r>
              <a:rPr lang="de-DE" sz="3000" dirty="0" smtClean="0"/>
              <a:t>Metaphern / Symbole</a:t>
            </a:r>
          </a:p>
          <a:p>
            <a:r>
              <a:rPr lang="de-DE" sz="3000" dirty="0" smtClean="0"/>
              <a:t>Parataxen</a:t>
            </a:r>
            <a:endParaRPr lang="de-DE" sz="3000" dirty="0" smtClean="0"/>
          </a:p>
          <a:p>
            <a:r>
              <a:rPr lang="de-DE" sz="3000" dirty="0" smtClean="0"/>
              <a:t>Dissoziationen</a:t>
            </a:r>
            <a:endParaRPr lang="de-DE" sz="3000" dirty="0" smtClean="0"/>
          </a:p>
          <a:p>
            <a:r>
              <a:rPr lang="de-DE" sz="3000" dirty="0" smtClean="0"/>
              <a:t>Substantivierungen</a:t>
            </a:r>
            <a:endParaRPr lang="de-DE" sz="3000" dirty="0" smtClean="0"/>
          </a:p>
        </p:txBody>
      </p:sp>
    </p:spTree>
    <p:extLst>
      <p:ext uri="{BB962C8B-B14F-4D97-AF65-F5344CB8AC3E}">
        <p14:creationId xmlns:p14="http://schemas.microsoft.com/office/powerpoint/2010/main" val="2146762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sder\Documents\!Dokumente\Schule\TGI12\Fächer\Deutsch\Expressionismus\NowUsed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564904"/>
            <a:ext cx="34480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sder\Documents\!Dokumente\Schule\TGI12\Fächer\Deutsch\Expressionismus\NowUsed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1700808"/>
            <a:ext cx="3024336" cy="432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sder\Documents\!Dokumente\Schule\TGI12\Fächer\Deutsch\Expressionismus\Überschrif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385" y="260648"/>
            <a:ext cx="5644910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2015716" y="1481853"/>
            <a:ext cx="223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Blackadder ITC" pitchFamily="82" charset="0"/>
              </a:rPr>
              <a:t>Lothar Schreyer</a:t>
            </a:r>
          </a:p>
        </p:txBody>
      </p:sp>
      <p:sp>
        <p:nvSpPr>
          <p:cNvPr id="5" name="Textfeld 4"/>
          <p:cNvSpPr txBox="1"/>
          <p:nvPr/>
        </p:nvSpPr>
        <p:spPr>
          <a:xfrm>
            <a:off x="1397397" y="2220014"/>
            <a:ext cx="2452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Blackadder ITC" pitchFamily="82" charset="0"/>
              </a:rPr>
              <a:t>Syntaxvariationen</a:t>
            </a:r>
            <a:endParaRPr lang="de-DE" sz="2400" dirty="0">
              <a:latin typeface="Blackadder ITC" pitchFamily="82" charset="0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6048164" y="1336920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Blackadder ITC" pitchFamily="82" charset="0"/>
              </a:rPr>
              <a:t>Satzverknappungen</a:t>
            </a:r>
            <a:endParaRPr lang="de-DE" sz="2400" dirty="0">
              <a:latin typeface="Blackadder ITC" pitchFamily="82" charset="0"/>
            </a:endParaRPr>
          </a:p>
        </p:txBody>
      </p:sp>
      <p:pic>
        <p:nvPicPr>
          <p:cNvPr id="1029" name="Picture 5" descr="C:\Users\Asder\Documents\!Dokumente\Schule\TGI12\Fächer\Deutsch\Expressionismus\Wortverkürzunge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3" y="5445224"/>
            <a:ext cx="3476625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/>
          <p:cNvSpPr txBox="1"/>
          <p:nvPr/>
        </p:nvSpPr>
        <p:spPr>
          <a:xfrm>
            <a:off x="2385875" y="5085184"/>
            <a:ext cx="2520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dirty="0" smtClean="0">
                <a:latin typeface="Blackadder ITC" pitchFamily="82" charset="0"/>
              </a:rPr>
              <a:t>Wortverknappungen</a:t>
            </a:r>
            <a:endParaRPr lang="de-DE" sz="2400" dirty="0">
              <a:latin typeface="Blackadder ITC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95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sder\Documents\!Dokumente\Schule\TGI12\Fächer\Deutsch\Expressionismus\KurzeSaetz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764704"/>
            <a:ext cx="3528392" cy="502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4716016" y="1055148"/>
            <a:ext cx="37444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sz="3200" dirty="0" smtClean="0">
                <a:latin typeface="Blackadder ITC" pitchFamily="82" charset="0"/>
              </a:rPr>
              <a:t>Telegramstil</a:t>
            </a:r>
          </a:p>
          <a:p>
            <a:pPr marL="285750" indent="-285750">
              <a:buFontTx/>
              <a:buChar char="-"/>
            </a:pPr>
            <a:r>
              <a:rPr lang="de-DE" sz="3200" dirty="0" smtClean="0">
                <a:latin typeface="Blackadder ITC" pitchFamily="82" charset="0"/>
              </a:rPr>
              <a:t>Sprachverknappung  (Artikel, Wort- und Satzverknappung)</a:t>
            </a:r>
          </a:p>
        </p:txBody>
      </p:sp>
    </p:spTree>
    <p:extLst>
      <p:ext uri="{BB962C8B-B14F-4D97-AF65-F5344CB8AC3E}">
        <p14:creationId xmlns:p14="http://schemas.microsoft.com/office/powerpoint/2010/main" val="6010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Georg Heym – Die Stadt (1911)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691680" y="1628800"/>
            <a:ext cx="5698976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dirty="0"/>
              <a:t>01. Sehr weit ist diese Nacht. Und Wolkenschein </a:t>
            </a:r>
            <a:br>
              <a:rPr lang="de-DE" dirty="0"/>
            </a:br>
            <a:r>
              <a:rPr lang="de-DE" dirty="0"/>
              <a:t>02. Zerreißet vor des Mondes Untergang. </a:t>
            </a:r>
            <a:br>
              <a:rPr lang="de-DE" dirty="0"/>
            </a:br>
            <a:r>
              <a:rPr lang="de-DE" dirty="0"/>
              <a:t>03. Und </a:t>
            </a:r>
            <a:r>
              <a:rPr lang="de-DE" dirty="0">
                <a:solidFill>
                  <a:srgbClr val="FF0000"/>
                </a:solidFill>
              </a:rPr>
              <a:t>tausend Fenster</a:t>
            </a:r>
            <a:r>
              <a:rPr lang="de-DE" dirty="0"/>
              <a:t> stehn die Nacht entlang </a:t>
            </a:r>
            <a:br>
              <a:rPr lang="de-DE" dirty="0"/>
            </a:br>
            <a:r>
              <a:rPr lang="de-DE" dirty="0"/>
              <a:t>04. Und </a:t>
            </a:r>
            <a:r>
              <a:rPr lang="de-DE" dirty="0">
                <a:solidFill>
                  <a:srgbClr val="FF0000"/>
                </a:solidFill>
              </a:rPr>
              <a:t>blinzeln mit den Lidern</a:t>
            </a:r>
            <a:r>
              <a:rPr lang="de-DE" dirty="0"/>
              <a:t>, rot und klein. </a:t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05. Wie Aderwerk gehn Straßen durch die Stadt, </a:t>
            </a:r>
            <a:br>
              <a:rPr lang="de-DE" dirty="0"/>
            </a:br>
            <a:r>
              <a:rPr lang="de-DE" dirty="0"/>
              <a:t>06.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Unzählig Menschen schwemmen aus und ein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/>
              <a:t>07. Und ewig </a:t>
            </a:r>
            <a:r>
              <a:rPr lang="de-DE" dirty="0">
                <a:solidFill>
                  <a:srgbClr val="FFC000"/>
                </a:solidFill>
              </a:rPr>
              <a:t>stumpfer Ton </a:t>
            </a:r>
            <a:r>
              <a:rPr lang="de-DE" dirty="0"/>
              <a:t>von </a:t>
            </a:r>
            <a:r>
              <a:rPr lang="de-DE" dirty="0">
                <a:solidFill>
                  <a:srgbClr val="FFC000"/>
                </a:solidFill>
              </a:rPr>
              <a:t>stumpfem Sein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08. Eintönig kommt heraus in Stille matt. </a:t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09.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Gebären, Tod, gewirktes Einerlei,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10.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Lallen der Wehen, langer Sterbeschrei,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11. Im blinden Wechsel </a:t>
            </a:r>
            <a:r>
              <a:rPr lang="de-DE" dirty="0">
                <a:solidFill>
                  <a:schemeClr val="accent6">
                    <a:lumMod val="75000"/>
                  </a:schemeClr>
                </a:solidFill>
              </a:rPr>
              <a:t>geht es dumpf vorbei.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12. Und Schein und Feuer, Fackeln rot und Brand,</a:t>
            </a:r>
            <a:br>
              <a:rPr lang="de-DE" dirty="0"/>
            </a:br>
            <a:r>
              <a:rPr lang="de-DE" dirty="0"/>
              <a:t>13. Die drohn im Weiten mit gezückter Hand </a:t>
            </a:r>
            <a:br>
              <a:rPr lang="de-DE" dirty="0"/>
            </a:br>
            <a:r>
              <a:rPr lang="de-DE" dirty="0"/>
              <a:t>14. Und scheinen </a:t>
            </a:r>
            <a:r>
              <a:rPr lang="de-DE" dirty="0">
                <a:solidFill>
                  <a:srgbClr val="FF0000"/>
                </a:solidFill>
              </a:rPr>
              <a:t>hoch von dunkler Wolkenwand.</a:t>
            </a:r>
          </a:p>
          <a:p>
            <a:endParaRPr lang="de-DE" dirty="0"/>
          </a:p>
        </p:txBody>
      </p:sp>
      <p:sp>
        <p:nvSpPr>
          <p:cNvPr id="4" name="Textfeld 3"/>
          <p:cNvSpPr txBox="1"/>
          <p:nvPr/>
        </p:nvSpPr>
        <p:spPr>
          <a:xfrm>
            <a:off x="2843808" y="6126807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solidFill>
                  <a:srgbClr val="FF0000"/>
                </a:solidFill>
              </a:rPr>
              <a:t>Stadt</a:t>
            </a:r>
            <a:r>
              <a:rPr lang="de-DE" b="1" dirty="0" smtClean="0"/>
              <a:t>, </a:t>
            </a:r>
            <a:r>
              <a:rPr lang="de-DE" b="1" dirty="0" smtClean="0">
                <a:solidFill>
                  <a:srgbClr val="FFC000"/>
                </a:solidFill>
              </a:rPr>
              <a:t>Mensch</a:t>
            </a:r>
            <a:r>
              <a:rPr lang="de-DE" b="1" dirty="0" smtClean="0"/>
              <a:t>, </a:t>
            </a:r>
            <a:r>
              <a:rPr lang="de-DE" b="1" dirty="0" smtClean="0">
                <a:solidFill>
                  <a:schemeClr val="accent6">
                    <a:lumMod val="75000"/>
                  </a:schemeClr>
                </a:solidFill>
              </a:rPr>
              <a:t>Stadt &amp; Mensch</a:t>
            </a:r>
            <a:endParaRPr lang="de-DE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177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1691680" y="476672"/>
            <a:ext cx="5698976" cy="45259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de-DE" dirty="0" smtClean="0"/>
              <a:t>01</a:t>
            </a:r>
            <a:r>
              <a:rPr lang="de-DE" dirty="0"/>
              <a:t>. Sehr weit ist diese Nacht. Und Wolkenschein </a:t>
            </a:r>
            <a:br>
              <a:rPr lang="de-DE" dirty="0"/>
            </a:br>
            <a:r>
              <a:rPr lang="de-DE" dirty="0" smtClean="0"/>
              <a:t>02</a:t>
            </a:r>
            <a:r>
              <a:rPr lang="de-DE" dirty="0"/>
              <a:t>. Zerreißet vor des Mondes Untergang. </a:t>
            </a:r>
            <a:br>
              <a:rPr lang="de-DE" dirty="0"/>
            </a:br>
            <a:r>
              <a:rPr lang="de-DE" dirty="0" smtClean="0"/>
              <a:t>03</a:t>
            </a:r>
            <a:r>
              <a:rPr lang="de-DE" dirty="0"/>
              <a:t>. Und tausend </a:t>
            </a:r>
            <a:r>
              <a:rPr lang="de-D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Fenster ste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hn</a:t>
            </a:r>
            <a:r>
              <a:rPr lang="de-DE" dirty="0"/>
              <a:t> die Nacht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entlang</a:t>
            </a:r>
            <a:r>
              <a:rPr lang="de-DE" dirty="0"/>
              <a:t> </a:t>
            </a:r>
            <a:br>
              <a:rPr lang="de-DE" dirty="0"/>
            </a:br>
            <a:r>
              <a:rPr lang="de-DE" dirty="0" smtClean="0"/>
              <a:t>04</a:t>
            </a:r>
            <a:r>
              <a:rPr lang="de-DE" dirty="0"/>
              <a:t>. Und</a:t>
            </a:r>
            <a:r>
              <a:rPr lang="de-D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blinzeln mit den Lidern</a:t>
            </a:r>
            <a:r>
              <a:rPr lang="de-DE" dirty="0"/>
              <a:t>, rot und klein. </a:t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05. Wie </a:t>
            </a:r>
            <a:r>
              <a:rPr lang="de-DE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Aderwerk</a:t>
            </a:r>
            <a:r>
              <a:rPr lang="de-DE" dirty="0"/>
              <a:t>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gehn</a:t>
            </a:r>
            <a:r>
              <a:rPr lang="de-DE" dirty="0"/>
              <a:t> Straßen durch die Stadt, </a:t>
            </a:r>
            <a:br>
              <a:rPr lang="de-DE" dirty="0"/>
            </a:br>
            <a:r>
              <a:rPr lang="de-DE" dirty="0"/>
              <a:t>06. Unzählig Menschen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schwemmen aus</a:t>
            </a:r>
            <a:r>
              <a:rPr lang="de-DE" dirty="0"/>
              <a:t>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und ein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/>
              <a:t>07. Und ewig stumpfer Ton von stumpfem Sein </a:t>
            </a:r>
            <a:br>
              <a:rPr lang="de-DE" dirty="0"/>
            </a:br>
            <a:r>
              <a:rPr lang="de-DE" dirty="0"/>
              <a:t>08. </a:t>
            </a:r>
            <a:r>
              <a:rPr lang="de-DE" i="1" dirty="0"/>
              <a:t>Eintönig </a:t>
            </a:r>
            <a:r>
              <a:rPr lang="de-DE" i="1" dirty="0">
                <a:solidFill>
                  <a:schemeClr val="accent3">
                    <a:lumMod val="75000"/>
                  </a:schemeClr>
                </a:solidFill>
              </a:rPr>
              <a:t>kommt heraus </a:t>
            </a:r>
            <a:r>
              <a:rPr lang="de-DE" i="1" dirty="0"/>
              <a:t>in Stille matt.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09. </a:t>
            </a:r>
            <a:r>
              <a:rPr lang="de-DE" dirty="0">
                <a:solidFill>
                  <a:srgbClr val="624BEF"/>
                </a:solidFill>
              </a:rPr>
              <a:t>Gebären, Tod, gewirktes Einerlei,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10. </a:t>
            </a:r>
            <a:r>
              <a:rPr lang="de-DE" dirty="0">
                <a:solidFill>
                  <a:srgbClr val="624BEF"/>
                </a:solidFill>
              </a:rPr>
              <a:t>Lallen der Wehen, langer Sterbeschrei, </a:t>
            </a:r>
            <a:r>
              <a:rPr lang="de-DE" dirty="0" smtClean="0">
                <a:solidFill>
                  <a:srgbClr val="624BEF"/>
                </a:solidFill>
              </a:rPr>
              <a:t>     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11. Im blinden Wechsel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geht</a:t>
            </a:r>
            <a:r>
              <a:rPr lang="de-DE" dirty="0"/>
              <a:t> es dumpf </a:t>
            </a:r>
            <a:r>
              <a:rPr lang="de-DE" dirty="0">
                <a:solidFill>
                  <a:schemeClr val="accent3">
                    <a:lumMod val="75000"/>
                  </a:schemeClr>
                </a:solidFill>
              </a:rPr>
              <a:t>vorbei</a:t>
            </a:r>
            <a:r>
              <a:rPr lang="de-DE" dirty="0"/>
              <a:t>. </a:t>
            </a:r>
            <a:br>
              <a:rPr lang="de-DE" dirty="0"/>
            </a:br>
            <a:r>
              <a:rPr lang="de-DE" dirty="0"/>
              <a:t/>
            </a:r>
            <a:br>
              <a:rPr lang="de-DE" dirty="0"/>
            </a:br>
            <a:r>
              <a:rPr lang="de-DE" dirty="0"/>
              <a:t>12. Und Schein und Feuer, Fackeln rot und Brand,</a:t>
            </a:r>
            <a:br>
              <a:rPr lang="de-DE" dirty="0"/>
            </a:br>
            <a:r>
              <a:rPr lang="de-DE" dirty="0"/>
              <a:t>13. </a:t>
            </a:r>
            <a:r>
              <a:rPr lang="de-DE" i="1" dirty="0"/>
              <a:t>Die drohn im Weiten mit gezückter Hand </a:t>
            </a:r>
            <a:r>
              <a:rPr lang="de-DE" dirty="0"/>
              <a:t/>
            </a:r>
            <a:br>
              <a:rPr lang="de-DE" dirty="0"/>
            </a:br>
            <a:r>
              <a:rPr lang="de-DE" dirty="0"/>
              <a:t>14. </a:t>
            </a:r>
            <a:r>
              <a:rPr lang="de-DE" i="1" dirty="0"/>
              <a:t>Und scheinen hoch von dunkler Wolkenwand.</a:t>
            </a:r>
          </a:p>
          <a:p>
            <a:endParaRPr lang="de-DE" dirty="0"/>
          </a:p>
        </p:txBody>
      </p:sp>
      <p:sp>
        <p:nvSpPr>
          <p:cNvPr id="7" name="Nach rechts gekrümmter Pfeil 6"/>
          <p:cNvSpPr/>
          <p:nvPr/>
        </p:nvSpPr>
        <p:spPr>
          <a:xfrm>
            <a:off x="1237953" y="548680"/>
            <a:ext cx="360040" cy="86409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8" name="Nach rechts gekrümmter Pfeil 7"/>
          <p:cNvSpPr/>
          <p:nvPr/>
        </p:nvSpPr>
        <p:spPr>
          <a:xfrm>
            <a:off x="1407702" y="818710"/>
            <a:ext cx="190291" cy="3240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1" name="Nach rechts gekrümmter Pfeil 10"/>
          <p:cNvSpPr/>
          <p:nvPr/>
        </p:nvSpPr>
        <p:spPr>
          <a:xfrm>
            <a:off x="1237953" y="1772816"/>
            <a:ext cx="360040" cy="86409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Nach rechts gekrümmter Pfeil 11"/>
          <p:cNvSpPr/>
          <p:nvPr/>
        </p:nvSpPr>
        <p:spPr>
          <a:xfrm>
            <a:off x="1407702" y="2042846"/>
            <a:ext cx="190291" cy="3240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Nach rechts gekrümmter Pfeil 12"/>
          <p:cNvSpPr/>
          <p:nvPr/>
        </p:nvSpPr>
        <p:spPr>
          <a:xfrm>
            <a:off x="1237953" y="2996952"/>
            <a:ext cx="360040" cy="6564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4" name="Nach rechts gekrümmter Pfeil 13"/>
          <p:cNvSpPr/>
          <p:nvPr/>
        </p:nvSpPr>
        <p:spPr>
          <a:xfrm>
            <a:off x="1331639" y="2996952"/>
            <a:ext cx="266353" cy="3600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5" name="Nach rechts gekrümmter Pfeil 14"/>
          <p:cNvSpPr/>
          <p:nvPr/>
        </p:nvSpPr>
        <p:spPr>
          <a:xfrm>
            <a:off x="1237951" y="3933056"/>
            <a:ext cx="360040" cy="6564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6" name="Nach rechts gekrümmter Pfeil 15"/>
          <p:cNvSpPr/>
          <p:nvPr/>
        </p:nvSpPr>
        <p:spPr>
          <a:xfrm>
            <a:off x="1331637" y="3933056"/>
            <a:ext cx="266353" cy="3600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395536" y="76318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smtClean="0"/>
              <a:t>abba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383107" y="199755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smtClean="0"/>
              <a:t>cddc</a:t>
            </a:r>
            <a:endParaRPr lang="de-DE" dirty="0"/>
          </a:p>
        </p:txBody>
      </p:sp>
      <p:sp>
        <p:nvSpPr>
          <p:cNvPr id="19" name="Textfeld 18"/>
          <p:cNvSpPr txBox="1"/>
          <p:nvPr/>
        </p:nvSpPr>
        <p:spPr>
          <a:xfrm>
            <a:off x="383107" y="314051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smtClean="0"/>
              <a:t>eee</a:t>
            </a:r>
            <a:endParaRPr lang="de-DE" dirty="0"/>
          </a:p>
        </p:txBody>
      </p:sp>
      <p:sp>
        <p:nvSpPr>
          <p:cNvPr id="20" name="Textfeld 19"/>
          <p:cNvSpPr txBox="1"/>
          <p:nvPr/>
        </p:nvSpPr>
        <p:spPr>
          <a:xfrm>
            <a:off x="395536" y="407661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smtClean="0"/>
              <a:t>fff</a:t>
            </a:r>
            <a:endParaRPr lang="de-DE" dirty="0"/>
          </a:p>
        </p:txBody>
      </p:sp>
      <p:sp>
        <p:nvSpPr>
          <p:cNvPr id="21" name="Textfeld 20"/>
          <p:cNvSpPr txBox="1"/>
          <p:nvPr/>
        </p:nvSpPr>
        <p:spPr>
          <a:xfrm>
            <a:off x="2699792" y="5318199"/>
            <a:ext cx="3363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Personifikation</a:t>
            </a:r>
            <a:endParaRPr lang="de-DE" dirty="0" smtClean="0"/>
          </a:p>
          <a:p>
            <a:pPr algn="ctr"/>
            <a:r>
              <a:rPr lang="de-DE" dirty="0" smtClean="0">
                <a:solidFill>
                  <a:schemeClr val="accent3">
                    <a:lumMod val="75000"/>
                  </a:schemeClr>
                </a:solidFill>
              </a:rPr>
              <a:t>Dynamisierung</a:t>
            </a:r>
            <a:endParaRPr lang="de-DE" dirty="0" smtClean="0"/>
          </a:p>
          <a:p>
            <a:pPr algn="ctr"/>
            <a:r>
              <a:rPr lang="de-DE" dirty="0" smtClean="0">
                <a:solidFill>
                  <a:srgbClr val="624BEF"/>
                </a:solidFill>
              </a:rPr>
              <a:t>Sprachverknappnung / Parataxe</a:t>
            </a:r>
            <a:r>
              <a:rPr lang="de-DE" dirty="0" smtClean="0"/>
              <a:t> </a:t>
            </a:r>
            <a:r>
              <a:rPr lang="de-DE" dirty="0" smtClean="0">
                <a:solidFill>
                  <a:srgbClr val="624BEF"/>
                </a:solidFill>
              </a:rPr>
              <a:t> </a:t>
            </a:r>
          </a:p>
          <a:p>
            <a:pPr algn="ctr"/>
            <a:r>
              <a:rPr lang="de-DE" i="1" dirty="0" smtClean="0"/>
              <a:t>Syntaxvariation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419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Quellen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sz="1200" dirty="0">
                <a:hlinkClick r:id="rId2"/>
              </a:rPr>
              <a:t>https://wortwuchs.net/lebenslauf/georg-heym/</a:t>
            </a:r>
          </a:p>
          <a:p>
            <a:pPr marL="0" indent="0">
              <a:buNone/>
            </a:pPr>
            <a:r>
              <a:rPr lang="de-DE" sz="1200" dirty="0" smtClean="0">
                <a:hlinkClick r:id="rId2"/>
              </a:rPr>
              <a:t>https</a:t>
            </a:r>
            <a:r>
              <a:rPr lang="de-DE" sz="1200" dirty="0" smtClean="0">
                <a:hlinkClick r:id="rId2"/>
              </a:rPr>
              <a:t>://www.pohlw.de/literatur/epochen/expressionismus/</a:t>
            </a:r>
          </a:p>
          <a:p>
            <a:pPr marL="0" indent="0">
              <a:buNone/>
            </a:pPr>
            <a:r>
              <a:rPr lang="de-DE" sz="1200" dirty="0" smtClean="0">
                <a:hlinkClick r:id="rId2"/>
              </a:rPr>
              <a:t>https://de.wikipedia.org/wiki/Expressionismus_(Literatur)#</a:t>
            </a:r>
            <a:r>
              <a:rPr lang="de-DE" sz="1200" dirty="0" smtClean="0">
                <a:hlinkClick r:id="rId2"/>
              </a:rPr>
              <a:t>Gattungsspezifika_des_Expressionismus</a:t>
            </a:r>
          </a:p>
          <a:p>
            <a:pPr marL="0" indent="0">
              <a:buNone/>
            </a:pPr>
            <a:r>
              <a:rPr lang="de-DE" sz="1200" dirty="0" smtClean="0">
                <a:hlinkClick r:id="rId2"/>
              </a:rPr>
              <a:t>https</a:t>
            </a:r>
            <a:r>
              <a:rPr lang="de-DE" sz="1200" dirty="0">
                <a:hlinkClick r:id="rId2"/>
              </a:rPr>
              <a:t>://www.endlich-durchblick.de/schnell-und-sicher-verstehen-gedichte-des-expressionismus</a:t>
            </a:r>
            <a:r>
              <a:rPr lang="de-DE" sz="1200" dirty="0" smtClean="0">
                <a:hlinkClick r:id="rId2"/>
              </a:rPr>
              <a:t>/</a:t>
            </a:r>
          </a:p>
          <a:p>
            <a:pPr marL="0" indent="0">
              <a:buNone/>
            </a:pPr>
            <a:r>
              <a:rPr lang="de-DE" sz="1200" dirty="0">
                <a:hlinkClick r:id="rId2"/>
              </a:rPr>
              <a:t>http://</a:t>
            </a:r>
            <a:r>
              <a:rPr lang="de-DE" sz="1200" dirty="0" smtClean="0">
                <a:hlinkClick r:id="rId2"/>
              </a:rPr>
              <a:t>www.rhetoriksturm.de/die-stadt-heym.php</a:t>
            </a:r>
          </a:p>
          <a:p>
            <a:pPr marL="0" indent="0">
              <a:buNone/>
            </a:pPr>
            <a:r>
              <a:rPr lang="de-DE" sz="1200" dirty="0" smtClean="0">
                <a:hlinkClick r:id="rId2"/>
              </a:rPr>
              <a:t>https</a:t>
            </a:r>
            <a:r>
              <a:rPr lang="de-DE" sz="1200" dirty="0">
                <a:hlinkClick r:id="rId2"/>
              </a:rPr>
              <a:t>://</a:t>
            </a:r>
            <a:r>
              <a:rPr lang="de-DE" sz="1200" dirty="0" smtClean="0">
                <a:hlinkClick r:id="rId2"/>
              </a:rPr>
              <a:t>de.wikipedia.org/wiki/Georg_Heym</a:t>
            </a:r>
          </a:p>
          <a:p>
            <a:pPr marL="0" indent="0">
              <a:buNone/>
            </a:pPr>
            <a:r>
              <a:rPr lang="de-DE" sz="1200" dirty="0">
                <a:hlinkClick r:id="rId3"/>
              </a:rPr>
              <a:t>https://www.blautopf.de</a:t>
            </a:r>
            <a:r>
              <a:rPr lang="de-DE" sz="1200" dirty="0" smtClean="0">
                <a:hlinkClick r:id="rId3"/>
              </a:rPr>
              <a:t>/</a:t>
            </a:r>
            <a:endParaRPr lang="de-DE" sz="1200" dirty="0" smtClean="0">
              <a:hlinkClick r:id="rId2"/>
            </a:endParaRPr>
          </a:p>
          <a:p>
            <a:pPr marL="0" indent="0">
              <a:buNone/>
            </a:pPr>
            <a:r>
              <a:rPr lang="de-DE" sz="1200" dirty="0" smtClean="0">
                <a:hlinkClick r:id="rId2"/>
              </a:rPr>
              <a:t>https://bluemountain.princeton.edu/bluemtn/cgi-bin/bluemtn?a=d&amp;d=bmtnaal191809-01.2.7&amp;e=-------en-20--1--txt-IN-</a:t>
            </a:r>
            <a:r>
              <a:rPr lang="de-DE" sz="1200" dirty="0" smtClean="0">
                <a:hlinkClick r:id="rId2"/>
              </a:rPr>
              <a:t>----</a:t>
            </a:r>
            <a:endParaRPr lang="de-DE" sz="1200" dirty="0" smtClean="0"/>
          </a:p>
          <a:p>
            <a:pPr marL="0" indent="0">
              <a:buNone/>
            </a:pPr>
            <a:r>
              <a:rPr lang="de-DE" sz="1200" u="sng" dirty="0">
                <a:solidFill>
                  <a:srgbClr val="3416EA"/>
                </a:solidFill>
                <a:hlinkClick r:id="rId4"/>
              </a:rPr>
              <a:t>https://books.google.de/books?id=NE-3DQAAQBAJ&amp;pg=PA93&amp;lpg=PA93&amp;dq=Der+Feldzug+nach+Sizilien+zusammenfassung+%</a:t>
            </a:r>
            <a:r>
              <a:rPr lang="de-DE" sz="1200" u="sng" dirty="0" smtClean="0">
                <a:solidFill>
                  <a:srgbClr val="3416EA"/>
                </a:solidFill>
                <a:hlinkClick r:id="rId4"/>
              </a:rPr>
              <a:t>22Georg+Heym%22&amp;source=bl&amp;ots=0nC3NWwSn4&amp;sig=ACfU3U21ZVYHvoAhGXY4QfSsl2ipxei31w&amp;hl=de&amp;sa=X&amp;ved=2ahUKEwj28eLD7I3oAhWUmFwKHQEdDpsQ6AEwBXoECAsQAQ#v=onepage&amp;q=Der%20Feldzug%20nach%20Sizilien%20zusammenfassung%20%22Georg%20Heym%22&amp;f=false</a:t>
            </a:r>
            <a:endParaRPr lang="de-DE" sz="1200" u="sng" dirty="0" smtClean="0">
              <a:solidFill>
                <a:srgbClr val="3416EA"/>
              </a:solidFill>
            </a:endParaRPr>
          </a:p>
          <a:p>
            <a:pPr marL="0" indent="0">
              <a:buNone/>
            </a:pPr>
            <a:r>
              <a:rPr lang="de-DE" sz="1200" u="sng" dirty="0">
                <a:solidFill>
                  <a:srgbClr val="3416EA"/>
                </a:solidFill>
                <a:hlinkClick r:id="rId5"/>
              </a:rPr>
              <a:t>https://</a:t>
            </a:r>
            <a:r>
              <a:rPr lang="de-DE" sz="1200" u="sng" dirty="0" smtClean="0">
                <a:solidFill>
                  <a:srgbClr val="3416EA"/>
                </a:solidFill>
                <a:hlinkClick r:id="rId5"/>
              </a:rPr>
              <a:t>link.springer.com/chapter/10.1007%2F978-3-476-03908-8_4</a:t>
            </a:r>
            <a:endParaRPr lang="de-DE" sz="1200" u="sng" dirty="0">
              <a:solidFill>
                <a:srgbClr val="3416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058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Georg </a:t>
            </a:r>
            <a:r>
              <a:rPr lang="de-DE" dirty="0" smtClean="0"/>
              <a:t>Trakl</a:t>
            </a:r>
            <a:r>
              <a:rPr lang="de-DE" dirty="0"/>
              <a:t> </a:t>
            </a:r>
            <a:r>
              <a:rPr lang="de-DE" dirty="0" smtClean="0"/>
              <a:t>– Grodek (1915)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de-DE" dirty="0"/>
              <a:t>Am Abend tönen die </a:t>
            </a:r>
            <a:r>
              <a:rPr lang="de-DE" dirty="0">
                <a:solidFill>
                  <a:srgbClr val="00B050"/>
                </a:solidFill>
              </a:rPr>
              <a:t>herbstlichen Wälder</a:t>
            </a:r>
            <a:r>
              <a:rPr lang="de-DE" dirty="0" smtClean="0">
                <a:solidFill>
                  <a:srgbClr val="92D050"/>
                </a:solidFill>
              </a:rPr>
              <a:t/>
            </a:r>
            <a:br>
              <a:rPr lang="de-DE" dirty="0" smtClean="0">
                <a:solidFill>
                  <a:srgbClr val="92D050"/>
                </a:solidFill>
              </a:rPr>
            </a:br>
            <a:r>
              <a:rPr lang="de-DE" dirty="0"/>
              <a:t>Von </a:t>
            </a:r>
            <a:r>
              <a:rPr lang="de-DE" dirty="0">
                <a:solidFill>
                  <a:srgbClr val="FF0000"/>
                </a:solidFill>
              </a:rPr>
              <a:t>tödlichen Waffen</a:t>
            </a:r>
            <a:r>
              <a:rPr lang="de-DE" dirty="0"/>
              <a:t>, die </a:t>
            </a:r>
            <a:r>
              <a:rPr lang="de-DE" dirty="0">
                <a:solidFill>
                  <a:srgbClr val="00B050"/>
                </a:solidFill>
              </a:rPr>
              <a:t>goldnen Ebenen</a:t>
            </a:r>
            <a:r>
              <a:rPr lang="de-DE" dirty="0" smtClean="0">
                <a:solidFill>
                  <a:srgbClr val="92D050"/>
                </a:solidFill>
              </a:rPr>
              <a:t/>
            </a:r>
            <a:br>
              <a:rPr lang="de-DE" dirty="0" smtClean="0">
                <a:solidFill>
                  <a:srgbClr val="92D050"/>
                </a:solidFill>
              </a:rPr>
            </a:br>
            <a:r>
              <a:rPr lang="de-DE" dirty="0"/>
              <a:t>Und </a:t>
            </a:r>
            <a:r>
              <a:rPr lang="de-DE" dirty="0">
                <a:solidFill>
                  <a:srgbClr val="00B050"/>
                </a:solidFill>
              </a:rPr>
              <a:t>blauen Seen</a:t>
            </a:r>
            <a:r>
              <a:rPr lang="de-DE" dirty="0"/>
              <a:t>, darüber die </a:t>
            </a:r>
            <a:r>
              <a:rPr lang="de-DE" dirty="0">
                <a:solidFill>
                  <a:srgbClr val="00B050"/>
                </a:solidFill>
              </a:rPr>
              <a:t>Sonne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Düstrer hinrollt; umfängt die </a:t>
            </a:r>
            <a:r>
              <a:rPr lang="de-DE" dirty="0">
                <a:solidFill>
                  <a:srgbClr val="FFC000"/>
                </a:solidFill>
              </a:rPr>
              <a:t>Nacht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>
                <a:solidFill>
                  <a:srgbClr val="FF0000"/>
                </a:solidFill>
              </a:rPr>
              <a:t>Sterbende </a:t>
            </a:r>
            <a:r>
              <a:rPr lang="de-DE" dirty="0">
                <a:solidFill>
                  <a:srgbClr val="FF0000"/>
                </a:solidFill>
              </a:rPr>
              <a:t>Krieger</a:t>
            </a:r>
            <a:r>
              <a:rPr lang="de-DE" dirty="0"/>
              <a:t>, die </a:t>
            </a:r>
            <a:r>
              <a:rPr lang="de-DE" dirty="0">
                <a:solidFill>
                  <a:srgbClr val="FF0000"/>
                </a:solidFill>
              </a:rPr>
              <a:t>wilde Klage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Ihrer </a:t>
            </a:r>
            <a:r>
              <a:rPr lang="de-DE" dirty="0">
                <a:solidFill>
                  <a:srgbClr val="FF0000"/>
                </a:solidFill>
              </a:rPr>
              <a:t>zerbrochenen Münder</a:t>
            </a:r>
            <a:r>
              <a:rPr lang="de-DE" dirty="0"/>
              <a:t>.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Doch </a:t>
            </a:r>
            <a:r>
              <a:rPr lang="de-DE" dirty="0">
                <a:solidFill>
                  <a:srgbClr val="FFC000"/>
                </a:solidFill>
              </a:rPr>
              <a:t>stille</a:t>
            </a:r>
            <a:r>
              <a:rPr lang="de-DE" dirty="0"/>
              <a:t> sammelt im Weidengrund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>
                <a:solidFill>
                  <a:srgbClr val="FF0000"/>
                </a:solidFill>
              </a:rPr>
              <a:t>Rotes Gewölk</a:t>
            </a:r>
            <a:r>
              <a:rPr lang="de-DE" dirty="0"/>
              <a:t>, darin ein </a:t>
            </a:r>
            <a:r>
              <a:rPr lang="de-DE" dirty="0">
                <a:solidFill>
                  <a:srgbClr val="FF0000"/>
                </a:solidFill>
              </a:rPr>
              <a:t>zürnender Gott</a:t>
            </a:r>
            <a:r>
              <a:rPr lang="de-DE" dirty="0"/>
              <a:t> wohnt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Das </a:t>
            </a:r>
            <a:r>
              <a:rPr lang="de-DE" dirty="0">
                <a:solidFill>
                  <a:srgbClr val="FF0000"/>
                </a:solidFill>
              </a:rPr>
              <a:t>vergoßne Blut </a:t>
            </a:r>
            <a:r>
              <a:rPr lang="de-DE" dirty="0"/>
              <a:t>sich, </a:t>
            </a:r>
            <a:r>
              <a:rPr lang="de-DE" dirty="0">
                <a:solidFill>
                  <a:srgbClr val="FFC000"/>
                </a:solidFill>
              </a:rPr>
              <a:t>mondne Kühle</a:t>
            </a:r>
            <a:r>
              <a:rPr lang="de-DE" dirty="0"/>
              <a:t>;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Alle </a:t>
            </a:r>
            <a:r>
              <a:rPr lang="de-DE" dirty="0"/>
              <a:t>Straßen münden in </a:t>
            </a:r>
            <a:r>
              <a:rPr lang="de-DE" dirty="0">
                <a:solidFill>
                  <a:srgbClr val="FF0000"/>
                </a:solidFill>
              </a:rPr>
              <a:t>schwarze Verwesung</a:t>
            </a:r>
            <a:r>
              <a:rPr lang="de-DE" dirty="0"/>
              <a:t>.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Unter </a:t>
            </a:r>
            <a:r>
              <a:rPr lang="de-DE" dirty="0">
                <a:solidFill>
                  <a:srgbClr val="FFC000"/>
                </a:solidFill>
              </a:rPr>
              <a:t>goldnem Gezweig der Nacht und Sternen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Es schwankt der </a:t>
            </a:r>
            <a:r>
              <a:rPr lang="de-DE" dirty="0">
                <a:solidFill>
                  <a:srgbClr val="FF0000"/>
                </a:solidFill>
              </a:rPr>
              <a:t>Schwester Schatten </a:t>
            </a:r>
            <a:r>
              <a:rPr lang="de-DE" dirty="0"/>
              <a:t>durch den </a:t>
            </a:r>
            <a:r>
              <a:rPr lang="de-DE" dirty="0">
                <a:solidFill>
                  <a:srgbClr val="00B050"/>
                </a:solidFill>
              </a:rPr>
              <a:t>schweigenden Hain</a:t>
            </a:r>
            <a:r>
              <a:rPr lang="de-DE" dirty="0"/>
              <a:t>,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Zu grüßen die </a:t>
            </a:r>
            <a:r>
              <a:rPr lang="de-DE" dirty="0">
                <a:solidFill>
                  <a:srgbClr val="FFC000"/>
                </a:solidFill>
              </a:rPr>
              <a:t>Geister der Helden</a:t>
            </a:r>
            <a:r>
              <a:rPr lang="de-DE" dirty="0"/>
              <a:t>, die </a:t>
            </a:r>
            <a:r>
              <a:rPr lang="de-DE" dirty="0">
                <a:solidFill>
                  <a:srgbClr val="FF0000"/>
                </a:solidFill>
              </a:rPr>
              <a:t>blutenden Häupter</a:t>
            </a:r>
            <a:r>
              <a:rPr lang="de-DE" dirty="0"/>
              <a:t>;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Und </a:t>
            </a:r>
            <a:r>
              <a:rPr lang="de-DE" dirty="0">
                <a:solidFill>
                  <a:srgbClr val="FFC000"/>
                </a:solidFill>
              </a:rPr>
              <a:t>leise</a:t>
            </a:r>
            <a:r>
              <a:rPr lang="de-DE" dirty="0"/>
              <a:t> tönen im Rohr die </a:t>
            </a:r>
            <a:r>
              <a:rPr lang="de-DE" dirty="0">
                <a:solidFill>
                  <a:srgbClr val="FF0000"/>
                </a:solidFill>
              </a:rPr>
              <a:t>dunklen</a:t>
            </a:r>
            <a:r>
              <a:rPr lang="de-DE" dirty="0"/>
              <a:t> Flöten des </a:t>
            </a:r>
            <a:r>
              <a:rPr lang="de-DE" dirty="0">
                <a:solidFill>
                  <a:srgbClr val="00B050"/>
                </a:solidFill>
              </a:rPr>
              <a:t>Herbstes</a:t>
            </a:r>
            <a:r>
              <a:rPr lang="de-DE" dirty="0"/>
              <a:t>.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>O </a:t>
            </a:r>
            <a:r>
              <a:rPr lang="de-DE" dirty="0">
                <a:solidFill>
                  <a:srgbClr val="00B050"/>
                </a:solidFill>
              </a:rPr>
              <a:t>stolzere</a:t>
            </a:r>
            <a:r>
              <a:rPr lang="de-DE" dirty="0"/>
              <a:t> </a:t>
            </a:r>
            <a:r>
              <a:rPr lang="de-DE" dirty="0">
                <a:solidFill>
                  <a:srgbClr val="FF0000"/>
                </a:solidFill>
              </a:rPr>
              <a:t>Trauer</a:t>
            </a:r>
            <a:r>
              <a:rPr lang="de-DE" dirty="0"/>
              <a:t>! ihr ehernen Altäre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Die heiße Flamme des Geistes nährt heute ein </a:t>
            </a:r>
            <a:r>
              <a:rPr lang="de-DE" dirty="0">
                <a:solidFill>
                  <a:srgbClr val="FF0000"/>
                </a:solidFill>
              </a:rPr>
              <a:t>gewaltiger Schmerz</a:t>
            </a:r>
            <a:r>
              <a:rPr lang="de-DE" dirty="0"/>
              <a:t>,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/>
              <a:t>Die </a:t>
            </a:r>
            <a:r>
              <a:rPr lang="de-DE" dirty="0">
                <a:solidFill>
                  <a:srgbClr val="FF0000"/>
                </a:solidFill>
              </a:rPr>
              <a:t>ungebornen Enkel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2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</Words>
  <Application>Microsoft Office PowerPoint</Application>
  <PresentationFormat>Bildschirmpräsentation (4:3)</PresentationFormat>
  <Paragraphs>74</Paragraphs>
  <Slides>13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4" baseType="lpstr">
      <vt:lpstr>Larissa</vt:lpstr>
      <vt:lpstr>PowerPoint-Präsentation</vt:lpstr>
      <vt:lpstr>Expressionismus</vt:lpstr>
      <vt:lpstr>PowerPoint-Präsentation</vt:lpstr>
      <vt:lpstr>Themen</vt:lpstr>
      <vt:lpstr>Georg Heym  (1887 – 1912)</vt:lpstr>
      <vt:lpstr>weitere Autoren: </vt:lpstr>
      <vt:lpstr>häufige Stilmittel</vt:lpstr>
      <vt:lpstr>PowerPoint-Präsentation</vt:lpstr>
      <vt:lpstr>PowerPoint-Präsentation</vt:lpstr>
      <vt:lpstr>Georg Heym – Die Stadt (1911)</vt:lpstr>
      <vt:lpstr>PowerPoint-Präsentation</vt:lpstr>
      <vt:lpstr>Quellen</vt:lpstr>
      <vt:lpstr>Georg Trakl – Grodek (1915)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Asder</dc:creator>
  <cp:lastModifiedBy>Asder</cp:lastModifiedBy>
  <cp:revision>44</cp:revision>
  <dcterms:created xsi:type="dcterms:W3CDTF">2020-03-08T08:14:13Z</dcterms:created>
  <dcterms:modified xsi:type="dcterms:W3CDTF">2020-03-09T18:35:09Z</dcterms:modified>
</cp:coreProperties>
</file>